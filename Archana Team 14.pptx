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</p:sldIdLst>
  <p:sldSz cx="12192000" cy="6858000"/>
  <p:notesSz cx="6858000" cy="12192000"/>
  <p:embeddedFontLst>
    <p:embeddedFont>
      <p:font typeface="DM Sans SemiBold" panose="020B0604020202020204" charset="0"/>
      <p:regular r:id="rId14"/>
    </p:embeddedFont>
    <p:embeddedFont>
      <p:font typeface="Inter Bold" panose="020B0604020202020204" charset="0"/>
      <p:regular r:id="rId15"/>
    </p:embeddedFont>
    <p:embeddedFont>
      <p:font typeface="Inter Medium" panose="020B0604020202020204" charset="0"/>
      <p:regular r:id="rId16"/>
    </p:embeddedFont>
    <p:embeddedFont>
      <p:font typeface="Inter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1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2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134" y="1114287"/>
            <a:ext cx="6964032" cy="3847703"/>
          </a:xfrm>
          <a:prstGeom prst="roundRect">
            <a:avLst>
              <a:gd name="adj" fmla="val 5545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473200"/>
            <a:ext cx="77722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03030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COLLEGE PROJECT · ACADEMIC YEAR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65176" y="1775420"/>
            <a:ext cx="7162621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56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University Timetable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56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Room Minimizer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965176" y="3347045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6" name="Text 4"/>
          <p:cNvSpPr/>
          <p:nvPr/>
        </p:nvSpPr>
        <p:spPr>
          <a:xfrm>
            <a:off x="965177" y="3616920"/>
            <a:ext cx="5594650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intelligent system for optimizing classroom and laboratory utilization across a university campus.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5176" y="4421257"/>
            <a:ext cx="5733798" cy="290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kern="100" spc="13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Student/Team Name · Department · College/University · Academic Year</a:t>
            </a:r>
            <a:endParaRPr lang="en-US" sz="13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C5CD4-854F-6F7A-43B9-3375A079140E}"/>
              </a:ext>
            </a:extLst>
          </p:cNvPr>
          <p:cNvSpPr txBox="1"/>
          <p:nvPr/>
        </p:nvSpPr>
        <p:spPr>
          <a:xfrm>
            <a:off x="8935278" y="5266082"/>
            <a:ext cx="29817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MEMBERS:</a:t>
            </a:r>
          </a:p>
          <a:p>
            <a:r>
              <a:rPr lang="en-US" dirty="0">
                <a:solidFill>
                  <a:schemeClr val="bg1"/>
                </a:solidFill>
              </a:rPr>
              <a:t>1.K.ARCHANA</a:t>
            </a:r>
          </a:p>
          <a:p>
            <a:r>
              <a:rPr lang="en-US" dirty="0">
                <a:solidFill>
                  <a:schemeClr val="bg1"/>
                </a:solidFill>
              </a:rPr>
              <a:t>2.CH.GEETHIKA</a:t>
            </a:r>
          </a:p>
          <a:p>
            <a:r>
              <a:rPr lang="en-US" dirty="0">
                <a:solidFill>
                  <a:schemeClr val="bg1"/>
                </a:solidFill>
              </a:rPr>
              <a:t>3.N.ROHITH REDDY</a:t>
            </a:r>
          </a:p>
          <a:p>
            <a:r>
              <a:rPr lang="en-US" dirty="0">
                <a:solidFill>
                  <a:schemeClr val="bg1"/>
                </a:solidFill>
              </a:rPr>
              <a:t>4.V.MAHESH CHARY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652257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BOTTLENECK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16620"/>
            <a:ext cx="5912992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68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Limited rooms create a scheduling bottleneck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2328863"/>
            <a:ext cx="5912992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Many classes compete for a smaller set of suitable rooms.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3119636"/>
            <a:ext cx="2880248" cy="2823964"/>
          </a:xfrm>
          <a:prstGeom prst="roundRect">
            <a:avLst>
              <a:gd name="adj" fmla="val 7555"/>
            </a:avLst>
          </a:prstGeom>
          <a:solidFill>
            <a:srgbClr val="EEF7F2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3376017"/>
            <a:ext cx="431789" cy="43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8179" y="3922117"/>
            <a:ext cx="242306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Classes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38179" y="4461173"/>
            <a:ext cx="2423060" cy="1225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Subjects, faculty, batches, and lab requirements arrive at once.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642229" y="3119636"/>
            <a:ext cx="2880347" cy="2823964"/>
          </a:xfrm>
          <a:prstGeom prst="roundRect">
            <a:avLst>
              <a:gd name="adj" fmla="val 7555"/>
            </a:avLst>
          </a:prstGeom>
          <a:solidFill>
            <a:srgbClr val="EEF7F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823" y="3529310"/>
            <a:ext cx="431789" cy="431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70823" y="4075410"/>
            <a:ext cx="242315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Rooms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870823" y="4614466"/>
            <a:ext cx="2423159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Capacity, availability, and room type narrow the choices.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046439" y="2340173"/>
            <a:ext cx="2078779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16" name="Text 12"/>
          <p:cNvSpPr/>
          <p:nvPr/>
        </p:nvSpPr>
        <p:spPr>
          <a:xfrm>
            <a:off x="8175917" y="2404864"/>
            <a:ext cx="242941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CONFLICT PRESSURE</a:t>
            </a:r>
            <a:endParaRPr lang="en-US" sz="13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439" y="2777133"/>
            <a:ext cx="431789" cy="431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6024" y="2871887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Underutilization</a:t>
            </a:r>
            <a:endParaRPr lang="en-US" sz="18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439" y="3226693"/>
            <a:ext cx="431789" cy="431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56024" y="3321447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Clashes</a:t>
            </a:r>
            <a:endParaRPr lang="en-US" sz="18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439" y="3676253"/>
            <a:ext cx="431789" cy="431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56024" y="3771007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Manual effort</a:t>
            </a:r>
            <a:endParaRPr lang="en-US" sz="18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439" y="4125813"/>
            <a:ext cx="431789" cy="4318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656024" y="4220567"/>
            <a:ext cx="292608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100" spc="-9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Difficult changes</a:t>
            </a:r>
            <a:endParaRPr lang="en-US" sz="1800" dirty="0"/>
          </a:p>
        </p:txBody>
      </p:sp>
      <p:sp>
        <p:nvSpPr>
          <p:cNvPr id="25" name="Shape 17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18"/>
          <p:cNvSpPr/>
          <p:nvPr/>
        </p:nvSpPr>
        <p:spPr>
          <a:xfrm>
            <a:off x="11365720" y="6583859"/>
            <a:ext cx="825975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66040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SYSTEM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962620"/>
            <a:ext cx="10972526" cy="592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400" kern="100" spc="-88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One optimization engine, fewer conflicts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09585" y="1751707"/>
            <a:ext cx="115821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a timetable and allocate suitable rooms in one coordinated process.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299" y="2438499"/>
            <a:ext cx="6773098" cy="380990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11363934" y="6583859"/>
            <a:ext cx="82776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03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OPTIMIZATION OBJECTIVES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1662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68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Optimize every room, not just every class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09585" y="1871166"/>
            <a:ext cx="3505112" cy="1883767"/>
          </a:xfrm>
          <a:prstGeom prst="roundRect">
            <a:avLst>
              <a:gd name="adj" fmla="val 11326"/>
            </a:avLst>
          </a:prstGeom>
          <a:solidFill>
            <a:srgbClr val="EEF7F2"/>
          </a:solidFill>
          <a:ln/>
        </p:spPr>
      </p:sp>
      <p:sp>
        <p:nvSpPr>
          <p:cNvPr id="7" name="Shape 5"/>
          <p:cNvSpPr/>
          <p:nvPr/>
        </p:nvSpPr>
        <p:spPr>
          <a:xfrm>
            <a:off x="838179" y="2099766"/>
            <a:ext cx="449648" cy="377825"/>
          </a:xfrm>
          <a:prstGeom prst="roundRect">
            <a:avLst>
              <a:gd name="adj" fmla="val 17142"/>
            </a:avLst>
          </a:prstGeom>
          <a:solidFill>
            <a:srgbClr val="127A53"/>
          </a:solidFill>
          <a:ln/>
        </p:spPr>
      </p:sp>
      <p:sp>
        <p:nvSpPr>
          <p:cNvPr id="8" name="Text 6"/>
          <p:cNvSpPr/>
          <p:nvPr/>
        </p:nvSpPr>
        <p:spPr>
          <a:xfrm>
            <a:off x="946126" y="2180729"/>
            <a:ext cx="843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38179" y="2563912"/>
            <a:ext cx="3047924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10" name="Text 8"/>
          <p:cNvSpPr/>
          <p:nvPr/>
        </p:nvSpPr>
        <p:spPr>
          <a:xfrm>
            <a:off x="838179" y="2662337"/>
            <a:ext cx="3047924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Minimize the number of rooms required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419489" y="1871166"/>
            <a:ext cx="3352716" cy="1883767"/>
          </a:xfrm>
          <a:prstGeom prst="roundRect">
            <a:avLst>
              <a:gd name="adj" fmla="val 11326"/>
            </a:avLst>
          </a:prstGeom>
          <a:solidFill>
            <a:srgbClr val="EEF7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648084" y="2099766"/>
            <a:ext cx="492906" cy="377825"/>
          </a:xfrm>
          <a:prstGeom prst="roundRect">
            <a:avLst>
              <a:gd name="adj" fmla="val 17142"/>
            </a:avLst>
          </a:prstGeom>
          <a:solidFill>
            <a:srgbClr val="127A53"/>
          </a:solidFill>
          <a:ln/>
        </p:spPr>
      </p:sp>
      <p:sp>
        <p:nvSpPr>
          <p:cNvPr id="13" name="Text 11"/>
          <p:cNvSpPr/>
          <p:nvPr/>
        </p:nvSpPr>
        <p:spPr>
          <a:xfrm>
            <a:off x="4756031" y="2180729"/>
            <a:ext cx="8865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648084" y="2563912"/>
            <a:ext cx="2895528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15" name="Text 13"/>
          <p:cNvSpPr/>
          <p:nvPr/>
        </p:nvSpPr>
        <p:spPr>
          <a:xfrm>
            <a:off x="4648084" y="2662337"/>
            <a:ext cx="289552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Avoid timetable and room conflicts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076998" y="1871166"/>
            <a:ext cx="3505112" cy="1883767"/>
          </a:xfrm>
          <a:prstGeom prst="roundRect">
            <a:avLst>
              <a:gd name="adj" fmla="val 11326"/>
            </a:avLst>
          </a:prstGeom>
          <a:solidFill>
            <a:srgbClr val="EEF7F2"/>
          </a:solidFill>
          <a:ln/>
        </p:spPr>
      </p:sp>
      <p:sp>
        <p:nvSpPr>
          <p:cNvPr id="17" name="Shape 15"/>
          <p:cNvSpPr/>
          <p:nvPr/>
        </p:nvSpPr>
        <p:spPr>
          <a:xfrm>
            <a:off x="8305592" y="2099766"/>
            <a:ext cx="495684" cy="377825"/>
          </a:xfrm>
          <a:prstGeom prst="roundRect">
            <a:avLst>
              <a:gd name="adj" fmla="val 17142"/>
            </a:avLst>
          </a:prstGeom>
          <a:solidFill>
            <a:srgbClr val="127A53"/>
          </a:solidFill>
          <a:ln/>
        </p:spPr>
      </p:sp>
      <p:sp>
        <p:nvSpPr>
          <p:cNvPr id="18" name="Text 16"/>
          <p:cNvSpPr/>
          <p:nvPr/>
        </p:nvSpPr>
        <p:spPr>
          <a:xfrm>
            <a:off x="8413540" y="2180729"/>
            <a:ext cx="8893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305592" y="2563912"/>
            <a:ext cx="3047924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20" name="Text 18"/>
          <p:cNvSpPr/>
          <p:nvPr/>
        </p:nvSpPr>
        <p:spPr>
          <a:xfrm>
            <a:off x="8305592" y="2662337"/>
            <a:ext cx="327651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Improve classroom utilization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9585" y="4059734"/>
            <a:ext cx="3505112" cy="1883866"/>
          </a:xfrm>
          <a:prstGeom prst="roundRect">
            <a:avLst>
              <a:gd name="adj" fmla="val 11325"/>
            </a:avLst>
          </a:prstGeom>
          <a:solidFill>
            <a:srgbClr val="EEF7F2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179" y="4288334"/>
            <a:ext cx="502134" cy="377825"/>
          </a:xfrm>
          <a:prstGeom prst="roundRect">
            <a:avLst>
              <a:gd name="adj" fmla="val 17142"/>
            </a:avLst>
          </a:prstGeom>
          <a:solidFill>
            <a:srgbClr val="127A53"/>
          </a:solidFill>
          <a:ln/>
        </p:spPr>
      </p:sp>
      <p:sp>
        <p:nvSpPr>
          <p:cNvPr id="23" name="Text 21"/>
          <p:cNvSpPr/>
          <p:nvPr/>
        </p:nvSpPr>
        <p:spPr>
          <a:xfrm>
            <a:off x="946126" y="4369296"/>
            <a:ext cx="895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8179" y="4752479"/>
            <a:ext cx="3047924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25" name="Text 23"/>
          <p:cNvSpPr/>
          <p:nvPr/>
        </p:nvSpPr>
        <p:spPr>
          <a:xfrm>
            <a:off x="838179" y="4850904"/>
            <a:ext cx="3047924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 laboratories and special rooms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419489" y="4059734"/>
            <a:ext cx="3352716" cy="1883866"/>
          </a:xfrm>
          <a:prstGeom prst="roundRect">
            <a:avLst>
              <a:gd name="adj" fmla="val 11325"/>
            </a:avLst>
          </a:prstGeom>
          <a:solidFill>
            <a:srgbClr val="EEF7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48084" y="4288334"/>
            <a:ext cx="490525" cy="377825"/>
          </a:xfrm>
          <a:prstGeom prst="roundRect">
            <a:avLst>
              <a:gd name="adj" fmla="val 17142"/>
            </a:avLst>
          </a:prstGeom>
          <a:solidFill>
            <a:srgbClr val="127A53"/>
          </a:solidFill>
          <a:ln/>
        </p:spPr>
      </p:sp>
      <p:sp>
        <p:nvSpPr>
          <p:cNvPr id="28" name="Text 26"/>
          <p:cNvSpPr/>
          <p:nvPr/>
        </p:nvSpPr>
        <p:spPr>
          <a:xfrm>
            <a:off x="4756031" y="4369296"/>
            <a:ext cx="88421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4648084" y="4752479"/>
            <a:ext cx="2895528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30" name="Text 28"/>
          <p:cNvSpPr/>
          <p:nvPr/>
        </p:nvSpPr>
        <p:spPr>
          <a:xfrm>
            <a:off x="4648084" y="4850904"/>
            <a:ext cx="2895528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Reduce manual scheduling effort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076998" y="4059734"/>
            <a:ext cx="3505112" cy="1883866"/>
          </a:xfrm>
          <a:prstGeom prst="roundRect">
            <a:avLst>
              <a:gd name="adj" fmla="val 11325"/>
            </a:avLst>
          </a:prstGeom>
          <a:solidFill>
            <a:srgbClr val="EEF7F2"/>
          </a:solidFill>
          <a:ln/>
        </p:spPr>
      </p:sp>
      <p:sp>
        <p:nvSpPr>
          <p:cNvPr id="32" name="Shape 30"/>
          <p:cNvSpPr/>
          <p:nvPr/>
        </p:nvSpPr>
        <p:spPr>
          <a:xfrm>
            <a:off x="8305592" y="4288334"/>
            <a:ext cx="496478" cy="377825"/>
          </a:xfrm>
          <a:prstGeom prst="roundRect">
            <a:avLst>
              <a:gd name="adj" fmla="val 17142"/>
            </a:avLst>
          </a:prstGeom>
          <a:solidFill>
            <a:srgbClr val="127A53"/>
          </a:solidFill>
          <a:ln/>
        </p:spPr>
      </p:sp>
      <p:sp>
        <p:nvSpPr>
          <p:cNvPr id="33" name="Text 31"/>
          <p:cNvSpPr/>
          <p:nvPr/>
        </p:nvSpPr>
        <p:spPr>
          <a:xfrm>
            <a:off x="8413540" y="4369296"/>
            <a:ext cx="89016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305592" y="4752479"/>
            <a:ext cx="3047924" cy="19050"/>
          </a:xfrm>
          <a:prstGeom prst="rect">
            <a:avLst/>
          </a:prstGeom>
          <a:solidFill>
            <a:srgbClr val="1C9768"/>
          </a:solidFill>
          <a:ln/>
        </p:spPr>
      </p:sp>
      <p:sp>
        <p:nvSpPr>
          <p:cNvPr id="35" name="Text 33"/>
          <p:cNvSpPr/>
          <p:nvPr/>
        </p:nvSpPr>
        <p:spPr>
          <a:xfrm>
            <a:off x="8305592" y="4850904"/>
            <a:ext cx="327651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Generate flexible timetables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358874" y="6583859"/>
            <a:ext cx="832821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0972526" cy="385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kern="100" spc="-57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Features built for real scheduling teams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609585" y="1439168"/>
            <a:ext cx="3581310" cy="1705372"/>
          </a:xfrm>
          <a:prstGeom prst="roundRect">
            <a:avLst>
              <a:gd name="adj" fmla="val 12511"/>
            </a:avLst>
          </a:prstGeom>
          <a:solidFill>
            <a:srgbClr val="EEF7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667768"/>
            <a:ext cx="454311" cy="4543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2203053"/>
            <a:ext cx="3124122" cy="712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generation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Build timetables from scheduling inputs.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3291" y="1439168"/>
            <a:ext cx="3505112" cy="1705372"/>
          </a:xfrm>
          <a:prstGeom prst="roundRect">
            <a:avLst>
              <a:gd name="adj" fmla="val 12511"/>
            </a:avLst>
          </a:prstGeom>
          <a:solidFill>
            <a:srgbClr val="EEF7F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86" y="1667768"/>
            <a:ext cx="454311" cy="4543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1886" y="2203053"/>
            <a:ext cx="3047924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allocation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Assign suitable rooms to classes.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8000800" y="1439168"/>
            <a:ext cx="3581310" cy="1705372"/>
          </a:xfrm>
          <a:prstGeom prst="roundRect">
            <a:avLst>
              <a:gd name="adj" fmla="val 12511"/>
            </a:avLst>
          </a:prstGeom>
          <a:solidFill>
            <a:srgbClr val="EEF7F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394" y="1667768"/>
            <a:ext cx="454311" cy="4543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394" y="2203053"/>
            <a:ext cx="3124122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Capacity matching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Match rooms to class capacity.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09585" y="3296841"/>
            <a:ext cx="3581310" cy="1705570"/>
          </a:xfrm>
          <a:prstGeom prst="roundRect">
            <a:avLst>
              <a:gd name="adj" fmla="val 12509"/>
            </a:avLst>
          </a:prstGeom>
          <a:solidFill>
            <a:srgbClr val="EEF7F2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79" y="3525441"/>
            <a:ext cx="454311" cy="4543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8179" y="4060726"/>
            <a:ext cx="3124122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Faculty availability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Respect faculty availability.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343291" y="3296841"/>
            <a:ext cx="3505112" cy="1705570"/>
          </a:xfrm>
          <a:prstGeom prst="roundRect">
            <a:avLst>
              <a:gd name="adj" fmla="val 12509"/>
            </a:avLst>
          </a:prstGeom>
          <a:solidFill>
            <a:srgbClr val="EEF7F2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886" y="3525441"/>
            <a:ext cx="454311" cy="45432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1886" y="4060726"/>
            <a:ext cx="3047924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Conflict detection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Find timetable and room clashes.</a:t>
            </a:r>
            <a:endParaRPr lang="en-US" sz="1450" dirty="0"/>
          </a:p>
        </p:txBody>
      </p:sp>
      <p:sp>
        <p:nvSpPr>
          <p:cNvPr id="20" name="Shape 13"/>
          <p:cNvSpPr/>
          <p:nvPr/>
        </p:nvSpPr>
        <p:spPr>
          <a:xfrm>
            <a:off x="8000800" y="3296841"/>
            <a:ext cx="3581310" cy="1705570"/>
          </a:xfrm>
          <a:prstGeom prst="roundRect">
            <a:avLst>
              <a:gd name="adj" fmla="val 12509"/>
            </a:avLst>
          </a:prstGeom>
          <a:solidFill>
            <a:srgbClr val="EEF7F2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394" y="3525441"/>
            <a:ext cx="454311" cy="45432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229394" y="4060726"/>
            <a:ext cx="3124122" cy="712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 management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 laboratories and special rooms.</a:t>
            </a:r>
            <a:endParaRPr lang="en-US" sz="1450" dirty="0"/>
          </a:p>
        </p:txBody>
      </p:sp>
      <p:sp>
        <p:nvSpPr>
          <p:cNvPr id="23" name="Shape 15"/>
          <p:cNvSpPr/>
          <p:nvPr/>
        </p:nvSpPr>
        <p:spPr>
          <a:xfrm>
            <a:off x="609585" y="5154712"/>
            <a:ext cx="3581310" cy="1705372"/>
          </a:xfrm>
          <a:prstGeom prst="roundRect">
            <a:avLst>
              <a:gd name="adj" fmla="val 12511"/>
            </a:avLst>
          </a:prstGeom>
          <a:solidFill>
            <a:srgbClr val="EEF7F2"/>
          </a:solidFill>
          <a:ln/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5383312"/>
            <a:ext cx="454311" cy="454323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38179" y="5918597"/>
            <a:ext cx="3124122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Timetable modification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Make flexible schedule changes.</a:t>
            </a:r>
            <a:endParaRPr lang="en-US" sz="1450" dirty="0"/>
          </a:p>
        </p:txBody>
      </p:sp>
      <p:sp>
        <p:nvSpPr>
          <p:cNvPr id="26" name="Shape 17"/>
          <p:cNvSpPr/>
          <p:nvPr/>
        </p:nvSpPr>
        <p:spPr>
          <a:xfrm>
            <a:off x="4343291" y="5154712"/>
            <a:ext cx="3505112" cy="1705372"/>
          </a:xfrm>
          <a:prstGeom prst="roundRect">
            <a:avLst>
              <a:gd name="adj" fmla="val 12511"/>
            </a:avLst>
          </a:prstGeom>
          <a:solidFill>
            <a:srgbClr val="EEF7F2"/>
          </a:solidFill>
          <a:ln/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886" y="5383312"/>
            <a:ext cx="454311" cy="454323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571886" y="5918597"/>
            <a:ext cx="3047924" cy="475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Utilization monitoring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 how rooms are used.</a:t>
            </a:r>
            <a:endParaRPr lang="en-US" sz="1450" dirty="0"/>
          </a:p>
        </p:txBody>
      </p:sp>
      <p:sp>
        <p:nvSpPr>
          <p:cNvPr id="29" name="Shape 19"/>
          <p:cNvSpPr/>
          <p:nvPr/>
        </p:nvSpPr>
        <p:spPr>
          <a:xfrm>
            <a:off x="8000800" y="5154712"/>
            <a:ext cx="3581310" cy="1705372"/>
          </a:xfrm>
          <a:prstGeom prst="roundRect">
            <a:avLst>
              <a:gd name="adj" fmla="val 12511"/>
            </a:avLst>
          </a:prstGeom>
          <a:solidFill>
            <a:srgbClr val="EEF7F2"/>
          </a:solidFill>
          <a:ln/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394" y="5383312"/>
            <a:ext cx="454311" cy="454323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229394" y="5918597"/>
            <a:ext cx="3124122" cy="712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Reports</a:t>
            </a:r>
            <a:endParaRPr lang="en-US" sz="145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Share timetable and utilization views.</a:t>
            </a:r>
            <a:endParaRPr lang="en-US" sz="1450" dirty="0"/>
          </a:p>
        </p:txBody>
      </p:sp>
      <p:sp>
        <p:nvSpPr>
          <p:cNvPr id="32" name="Shape 21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2"/>
          <p:cNvSpPr/>
          <p:nvPr/>
        </p:nvSpPr>
        <p:spPr>
          <a:xfrm>
            <a:off x="11368002" y="6583859"/>
            <a:ext cx="82369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05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91440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WORKFLOW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21662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68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From raw data to a final timetable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71166"/>
          <a:ext cx="10972525" cy="3921820"/>
        </p:xfrm>
        <a:graphic>
          <a:graphicData uri="http://schemas.openxmlformats.org/drawingml/2006/table">
            <a:tbl>
              <a:tblPr/>
              <a:tblGrid>
                <a:gridCol w="26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39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303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Stage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303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Details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Input data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Subjects, faculty, batches, rooms, capacity, time slots, lab requirements.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Constraints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Availability, capacity, room type, and scheduling rules.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Generate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Create timetable possibilities.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Allocate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Assign rooms to classes.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Detect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Check conflicts and clashes.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Optimize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Refine room use and flexibility.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1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Finalize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Publish the final timetable.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143099"/>
            <a:ext cx="335271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DECISION LOGIC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445320"/>
            <a:ext cx="2743131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68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Constraint satisfaction meets smart allocation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09585" y="3472954"/>
            <a:ext cx="2743131" cy="171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1350"/>
              </a:spcAft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Greedy or optimization-based allocation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Conflict detection · capacity matching · utilization analysis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5360987"/>
            <a:ext cx="2723090" cy="353913"/>
          </a:xfrm>
          <a:prstGeom prst="roundRect">
            <a:avLst>
              <a:gd name="adj" fmla="val 49999"/>
            </a:avLst>
          </a:prstGeom>
          <a:solidFill>
            <a:srgbClr val="127A53"/>
          </a:solidFill>
          <a:ln/>
        </p:spPr>
      </p:sp>
      <p:sp>
        <p:nvSpPr>
          <p:cNvPr id="8" name="Text 6"/>
          <p:cNvSpPr/>
          <p:nvPr/>
        </p:nvSpPr>
        <p:spPr>
          <a:xfrm>
            <a:off x="739062" y="5425678"/>
            <a:ext cx="307372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MINIMUM-ROOM SELECTION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76678" y="668933"/>
            <a:ext cx="6705432" cy="1604963"/>
          </a:xfrm>
          <a:prstGeom prst="roundRect">
            <a:avLst>
              <a:gd name="adj" fmla="val 13293"/>
            </a:avLst>
          </a:prstGeom>
          <a:solidFill>
            <a:srgbClr val="EEF7F2"/>
          </a:solidFill>
          <a:ln/>
        </p:spPr>
      </p:sp>
      <p:sp>
        <p:nvSpPr>
          <p:cNvPr id="10" name="Text 8"/>
          <p:cNvSpPr/>
          <p:nvPr/>
        </p:nvSpPr>
        <p:spPr>
          <a:xfrm>
            <a:off x="5105272" y="897533"/>
            <a:ext cx="647683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46464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CLASS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05272" y="1199753"/>
            <a:ext cx="624824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Subject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05272" y="1738809"/>
            <a:ext cx="647683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Faculty · batch · lab requirement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6678" y="2451695"/>
          <a:ext cx="6705432" cy="1954560"/>
        </p:xfrm>
        <a:graphic>
          <a:graphicData uri="http://schemas.openxmlformats.org/drawingml/2006/table">
            <a:tbl>
              <a:tblPr/>
              <a:tblGrid>
                <a:gridCol w="1609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303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3030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Assessment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 A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Capacity match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8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 B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 mismatch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 C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6464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conflict</a:t>
                      </a:r>
                      <a:endParaRPr lang="en-US" sz="17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76678" y="4584105"/>
            <a:ext cx="6705432" cy="1604963"/>
          </a:xfrm>
          <a:prstGeom prst="roundRect">
            <a:avLst>
              <a:gd name="adj" fmla="val 13293"/>
            </a:avLst>
          </a:prstGeom>
          <a:solidFill>
            <a:srgbClr val="127A53"/>
          </a:solidFill>
          <a:ln/>
        </p:spPr>
      </p:sp>
      <p:sp>
        <p:nvSpPr>
          <p:cNvPr id="15" name="Text 12"/>
          <p:cNvSpPr/>
          <p:nvPr/>
        </p:nvSpPr>
        <p:spPr>
          <a:xfrm>
            <a:off x="5105272" y="4812705"/>
            <a:ext cx="647683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SELECT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105272" y="5114925"/>
            <a:ext cx="6248244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Minimum suitable room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5105272" y="5653980"/>
            <a:ext cx="6476838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Capacity, availability, room type, and conflict status align.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11376832" y="6583859"/>
            <a:ext cx="814863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07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04800"/>
            <a:ext cx="6095848" cy="6248400"/>
          </a:xfrm>
          <a:prstGeom prst="rect">
            <a:avLst/>
          </a:prstGeom>
          <a:solidFill>
            <a:srgbClr val="127A53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1552178"/>
            <a:ext cx="579105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SYSTEM DESIGN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792" y="1854398"/>
            <a:ext cx="5486263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56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 modular architecture for campus scheduling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04792" y="4692848"/>
            <a:ext cx="548626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Separate modules keep scheduling inputs, optimization, allocation, and data connected.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039" y="1902719"/>
            <a:ext cx="5460863" cy="30718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63438" y="6583859"/>
            <a:ext cx="828257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08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1E2EF82-4693-9B86-EECA-666132765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25915"/>
              </p:ext>
            </p:extLst>
          </p:nvPr>
        </p:nvGraphicFramePr>
        <p:xfrm>
          <a:off x="636070" y="1212783"/>
          <a:ext cx="10515600" cy="508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8523357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2353753"/>
                    </a:ext>
                  </a:extLst>
                </a:gridCol>
              </a:tblGrid>
              <a:tr h="3960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571047"/>
                  </a:ext>
                </a:extLst>
              </a:tr>
              <a:tr h="78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📍 Easy and quick location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📡 May depend on GPS/internet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073017"/>
                  </a:ext>
                </a:extLst>
              </a:tr>
              <a:tr h="78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🧭 Provides efficient route guidance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🗺️ Requires accurate and updated campus maps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507114"/>
                  </a:ext>
                </a:extLst>
              </a:tr>
              <a:tr h="78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⏱️ Saves time and reduces confusion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🔄 Regular maintenance and updates are needed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120014"/>
                  </a:ext>
                </a:extLst>
              </a:tr>
              <a:tr h="78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🎓 Helpful for students, staff &amp; visitors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💻 Initial development cost and effort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999928"/>
                  </a:ext>
                </a:extLst>
              </a:tr>
              <a:tr h="78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🚨 Helps locate emergency facilities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🔋 Mobile device usage may consume battery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701998"/>
                  </a:ext>
                </a:extLst>
              </a:tr>
              <a:tr h="781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📱 Accessible through web/mobile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🔐 Location data may require privacy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231776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986258A-31A4-8DC1-228E-D12EB3878613}"/>
              </a:ext>
            </a:extLst>
          </p:cNvPr>
          <p:cNvSpPr txBox="1"/>
          <p:nvPr/>
        </p:nvSpPr>
        <p:spPr>
          <a:xfrm>
            <a:off x="481264" y="239907"/>
            <a:ext cx="6288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 And Disadvantages:</a:t>
            </a:r>
          </a:p>
        </p:txBody>
      </p:sp>
    </p:spTree>
    <p:extLst>
      <p:ext uri="{BB962C8B-B14F-4D97-AF65-F5344CB8AC3E}">
        <p14:creationId xmlns:p14="http://schemas.microsoft.com/office/powerpoint/2010/main" val="1675398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659"/>
            <a:ext cx="3662469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1C976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University Timetable Room Minimizer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0" y="295275"/>
            <a:ext cx="12191695" cy="9525"/>
          </a:xfrm>
          <a:prstGeom prst="rect">
            <a:avLst/>
          </a:prstGeom>
          <a:solidFill>
            <a:srgbClr val="1C976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381423"/>
            <a:ext cx="670543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kern="100" spc="108" dirty="0">
                <a:solidFill>
                  <a:srgbClr val="66666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VALUE AND THE NEXT STEP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585" y="1683643"/>
            <a:ext cx="6273643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56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Smart scheduling,</a:t>
            </a:r>
            <a:endParaRPr lang="en-US" sz="5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56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maximum utilization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09585" y="3201293"/>
            <a:ext cx="6273643" cy="612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Automated timetable and room allocation can help universities use limited rooms more effectively.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4046041"/>
            <a:ext cx="126898" cy="38100"/>
          </a:xfrm>
          <a:prstGeom prst="roundRect">
            <a:avLst>
              <a:gd name="adj" fmla="val 49999"/>
            </a:avLst>
          </a:prstGeom>
          <a:solidFill>
            <a:srgbClr val="1C9768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4474666"/>
            <a:ext cx="627364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03030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9585" y="5013722"/>
            <a:ext cx="6273643" cy="462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50" kern="100" spc="13" dirty="0">
                <a:solidFill>
                  <a:srgbClr val="66666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AI/ML optimization · real-time availability · mobile access · attendance integration · dynamic rescheduling · analytics · ERP integration</a:t>
            </a:r>
            <a:endParaRPr lang="en-US" sz="13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614" y="635000"/>
            <a:ext cx="4165496" cy="558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0" y="6553200"/>
            <a:ext cx="1219169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400247" y="6583859"/>
            <a:ext cx="791448" cy="2433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A0CBC8-94D9-07BF-BA1E-AC671CB59B73}"/>
              </a:ext>
            </a:extLst>
          </p:cNvPr>
          <p:cNvSpPr/>
          <p:nvPr/>
        </p:nvSpPr>
        <p:spPr>
          <a:xfrm>
            <a:off x="3406517" y="2967335"/>
            <a:ext cx="537897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950303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586</Words>
  <Application>Microsoft Office PowerPoint</Application>
  <PresentationFormat>Widescreen</PresentationFormat>
  <Paragraphs>145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Inter SemiBold</vt:lpstr>
      <vt:lpstr>Arial</vt:lpstr>
      <vt:lpstr>Inter Bold</vt:lpstr>
      <vt:lpstr>Inter Medium</vt:lpstr>
      <vt:lpstr>DM Sans SemiBold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Sangani Pranavi</dc:creator>
  <cp:lastModifiedBy>Dell</cp:lastModifiedBy>
  <cp:revision>2</cp:revision>
  <dcterms:created xsi:type="dcterms:W3CDTF">2026-10-03T06:49:39Z</dcterms:created>
  <dcterms:modified xsi:type="dcterms:W3CDTF">2026-10-03T07:01:27Z</dcterms:modified>
</cp:coreProperties>
</file>